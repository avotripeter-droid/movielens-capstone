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E8B9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Casablanca (1942)</c:v>
                  </c:pt>
                  <c:pt idx="1">
                    <c:v>Goodfellas (1990)</c:v>
                  </c:pt>
                  <c:pt idx="2">
                    <c:v>Departed, The (2006)</c:v>
                  </c:pt>
                  <c:pt idx="3">
                    <c:v>Rear Window (1954)</c:v>
                  </c:pt>
                  <c:pt idx="4">
                    <c:v>Godfather Pt. II (1974)</c:v>
                  </c:pt>
                  <c:pt idx="5">
                    <c:v>Dr. Strangelove (1964)</c:v>
                  </c:pt>
                  <c:pt idx="6">
                    <c:v>Fight Club (1999)</c:v>
                  </c:pt>
                  <c:pt idx="7">
                    <c:v>Cool Hand Luke (1967)</c:v>
                  </c:pt>
                  <c:pt idx="8">
                    <c:v>Godfather, The (1972)</c:v>
                  </c:pt>
                  <c:pt idx="9">
                    <c:v>Shawshank Redemption (1994)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4.24</c:v>
                </c:pt>
                <c:pt idx="1">
                  <c:v>4.25</c:v>
                </c:pt>
                <c:pt idx="2">
                  <c:v>4.25</c:v>
                </c:pt>
                <c:pt idx="3">
                  <c:v>4.26</c:v>
                </c:pt>
                <c:pt idx="4">
                  <c:v>4.26</c:v>
                </c:pt>
                <c:pt idx="5">
                  <c:v>4.27</c:v>
                </c:pt>
                <c:pt idx="6">
                  <c:v>4.27</c:v>
                </c:pt>
                <c:pt idx="7">
                  <c:v>4.27</c:v>
                </c:pt>
                <c:pt idx="8">
                  <c:v>4.29</c:v>
                </c:pt>
                <c:pt idx="9">
                  <c:v>4.43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5"/>
          <c:min val="4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610 users by activity quartile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ADCFC"/>
              </a:solidFill>
              <a:effectLst/>
            </c:spPr>
          </c:dPt>
          <c:dPt>
            <c:idx val="1"/>
            <c:bubble3D val="0"/>
            <c:spPr>
              <a:solidFill>
                <a:srgbClr val="9AB6E8"/>
              </a:solidFill>
              <a:effectLst/>
            </c:spPr>
          </c:dPt>
          <c:dPt>
            <c:idx val="2"/>
            <c:bubble3D val="0"/>
            <c:spPr>
              <a:solidFill>
                <a:srgbClr val="5B7FCB"/>
              </a:solidFill>
              <a:effectLst/>
            </c:spPr>
          </c:dPt>
          <c:dPt>
            <c:idx val="3"/>
            <c:bubble3D val="0"/>
            <c:spPr>
              <a:solidFill>
                <a:srgbClr val="1E2761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Q1 (least active)</c:v>
                </c:pt>
                <c:pt idx="1">
                  <c:v>Q2</c:v>
                </c:pt>
                <c:pt idx="2">
                  <c:v>Q3</c:v>
                </c:pt>
                <c:pt idx="3">
                  <c:v>Q4 (most active)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153</c:v>
                </c:pt>
                <c:pt idx="1">
                  <c:v>153</c:v>
                </c:pt>
                <c:pt idx="2">
                  <c:v>152</c:v>
                </c:pt>
                <c:pt idx="3">
                  <c:v>152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1F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Cumulative ratings — first 5 months on record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ratings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Mar '96</c:v>
                  </c:pt>
                  <c:pt idx="1">
                    <c:v>Apr '96</c:v>
                  </c:pt>
                  <c:pt idx="2">
                    <c:v>May '96</c:v>
                  </c:pt>
                  <c:pt idx="3">
                    <c:v>Jun '96</c:v>
                  </c:pt>
                  <c:pt idx="4">
                    <c:v>Jul '96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</c:v>
                </c:pt>
                <c:pt idx="1">
                  <c:v>223</c:v>
                </c:pt>
                <c:pt idx="2">
                  <c:v>1055</c:v>
                </c:pt>
                <c:pt idx="3">
                  <c:v>1938</c:v>
                </c:pt>
                <c:pt idx="4">
                  <c:v>2427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framing this as an end-to-end data project: load, validate, transform in SQL, analyze, predict, and turn it into a real recommendation for the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100,836 ratings, 9,742 movies, 610 users. Quality checks (dedup + null checks) came back clean, so joins on movieId/userId are trustworthy.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marts: movie summary, genre leaderboard via RANK(), user activity ranking, and a cumulative monthly trend via a rolling window SUM.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10 by average rating with a 50-rating floor. Shawshank Redemption leads at 4.43. Crime/drama titles dominate — useful for genre-level promotion.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Genre-level RANK() surfaces a top film per genre. Separately, activity quartiles show ratings are concentrated in a small, highly active user base — user 414 alone logged 2,698 ratings.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notebook's static 2x2 matplotlib dashboard becomes an interactive Streamlit app — same four panels, now filterable and always fresh.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a baseline and a Random Forest were tested predicting avg_rating from rating count (+genre count). Neither beat a naive mean baseline — an honest negative result worth reporting, not hiding.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co-occurrence recommender via self-join on userId. Top pair (Shawshank / Pulp Fiction lineage) shares 231 raters — strong enough for a 'more like this'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action items: promote proven top titles, ship the co-rated recommender cheaply, don't trust volume as a quality proxy, and grow the rater base outside the top quartile.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Wrap-up: the Streamlit app is delivered alongside this deck; CSV exports are ready to drop into Power BI or Looker Studio for teams that prefer those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233485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657600"/>
            <a:ext cx="4114800" cy="4114800"/>
          </a:xfrm>
          <a:prstGeom prst="ellipse">
            <a:avLst/>
          </a:prstGeom>
          <a:solidFill>
            <a:srgbClr val="16204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5303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B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 ANALYTICS PROJECT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MovieLens Ratings: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48640" y="2971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Ratings to Recommendations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39776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SQL-driven analysis of 100,836 ratings across 9,742 films — quality checks, marts, prediction, and a business recommendation.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DuckDB · SQL · scikit-learn · Matplotlib · Streamlit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QUESTION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6012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should we recommend, and to whom?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56692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question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films are genuinely well-loved (not just watched), which users drive the platform's rating volume, and can we predict a film's rating from simple, available features?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"ml-latest-small" — real user ratings collected by GroupLens Research, loaded into a local DuckDB warehouse for SQL analysis.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583680" y="1417320"/>
            <a:ext cx="2423160" cy="1280160"/>
          </a:xfrm>
          <a:prstGeom prst="roundRect">
            <a:avLst>
              <a:gd name="adj" fmla="val 5714"/>
            </a:avLst>
          </a:prstGeom>
          <a:solidFill>
            <a:srgbClr val="F3F5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720840" y="152704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100,836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720840" y="231343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ratings loaded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189720" y="1417320"/>
            <a:ext cx="2423160" cy="1280160"/>
          </a:xfrm>
          <a:prstGeom prst="roundRect">
            <a:avLst>
              <a:gd name="adj" fmla="val 5714"/>
            </a:avLst>
          </a:prstGeom>
          <a:solidFill>
            <a:srgbClr val="F3F5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326880" y="152704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9,742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9326880" y="231343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in catalog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583680" y="2880360"/>
            <a:ext cx="2423160" cy="1280160"/>
          </a:xfrm>
          <a:prstGeom prst="roundRect">
            <a:avLst>
              <a:gd name="adj" fmla="val 5714"/>
            </a:avLst>
          </a:prstGeom>
          <a:solidFill>
            <a:srgbClr val="F3F5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720840" y="299008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B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610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720840" y="377647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raters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189720" y="2880360"/>
            <a:ext cx="2423160" cy="1280160"/>
          </a:xfrm>
          <a:prstGeom prst="roundRect">
            <a:avLst>
              <a:gd name="adj" fmla="val 5714"/>
            </a:avLst>
          </a:prstGeom>
          <a:solidFill>
            <a:srgbClr val="F3F5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326880" y="299008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B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9326880" y="377647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tags parsed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583680" y="4343400"/>
            <a:ext cx="502920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4572000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315200" y="44348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duplicate keys, zero nulls on userId, movieId or timestamp — the join is safe to trust.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TRANSFORM IN SQL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6012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analytical marts, built with joins &amp; window functions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3F5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49808" y="242316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 Ratings Summary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49808" y="3017520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 + volume per film, joined across ratings &amp; movies.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15087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3F5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1188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36118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584448" y="242316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Genre Leaderboard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3584448" y="3017520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 OVER (PARTITION BY genre) — best film in each of 20 genres.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0" y="15087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3F5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4652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6446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419088" y="242316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Activity Ranking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419088" y="3017520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 by rating volume — surfaces the platform's power users.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052560" y="15087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3F5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28116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19"/>
          <p:cNvSpPr/>
          <p:nvPr/>
        </p:nvSpPr>
        <p:spPr>
          <a:xfrm>
            <a:off x="92811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253728" y="242316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Rating Trends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9253728" y="3017520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SUM() window — cumulative ratings, month over month.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4160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mart lives as a DataFrame, ready to chart — no extra data movement.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48640" y="4709160"/>
            <a:ext cx="10972800" cy="1417320"/>
          </a:xfrm>
          <a:prstGeom prst="roundRect">
            <a:avLst>
              <a:gd name="adj" fmla="val 5161"/>
            </a:avLst>
          </a:prstGeom>
          <a:solidFill>
            <a:srgbClr val="1B1F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77240" y="48463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movie_ratings AS 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movieId, SPLIT_PART(genres,'|',1) AS main_genre, AVG(rating) avg_rating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movies JOIN ratings USING (movieId) GROUP BY 1,2 HAVING COUNT(*) &gt;= 20)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*, RANK() OVER (PARTITION BY main_genre ORDER BY avg_rating DESC) AS genre_rank FROM movie_ratings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ANALYSIS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6012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highest-rated films (min. 50 ratings)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17320"/>
          <a:ext cx="713232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7818120" y="1417320"/>
            <a:ext cx="3794760" cy="1371600"/>
          </a:xfrm>
          <a:prstGeom prst="roundRect">
            <a:avLst>
              <a:gd name="adj" fmla="val 5333"/>
            </a:avLst>
          </a:prstGeom>
          <a:solidFill>
            <a:srgbClr val="F3F5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7955280" y="152704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B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4.43 / 5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7955280" y="240487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Shawshank Redemption — highest rated film with 317 ratings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818120" y="2971800"/>
            <a:ext cx="3794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ranking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to films with 50+ ratings (HAVING) removes one-off 5-star outliers, so this list reflects proven, broadly-loved titles.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and drama dominate the top 10 — a signal for genre-level promotion, not just title-level.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ANALYSIS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6012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film per genre, and who's rating the most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Genre leaders (RANK within genre)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486400" cy="1188720"/>
        </p:xfrm>
        <a:graphic>
          <a:graphicData uri="http://schemas.openxmlformats.org/drawingml/2006/table">
            <a:tbl>
              <a:tblPr/>
              <a:tblGrid>
                <a:gridCol w="1463040"/>
                <a:gridCol w="3108960"/>
                <a:gridCol w="914400"/>
              </a:tblGrid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Genre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Sample #1 Film (min. 20 ratings)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Action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Logan (2017)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4.06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Drama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Shawshank Redemption, The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4.43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3200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ranking (20+ genres) lives in the Streamlit app's Genre Explorer tab.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48640" y="3840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users drive volume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48640" y="420624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rater: user #414 —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2,698 ratings, 3.39 avg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610 users split into activity quartiles: roughly 152–153 users per quartile, but the top quartile alone accounts for the large majority of total ratings.</a:t>
            </a:r>
            <a:endParaRPr lang="en-US" sz="12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492240" y="1554480"/>
          <a:ext cx="5120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TRENDS &amp; DASHBOARD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6012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 volume over time, at a glance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17320"/>
          <a:ext cx="69494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5262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counts + a rolling SUM() window turn raw timestamps into a growth curve — the same pattern (early spikes, then steady accumulation) repeats across the dataset's 20+ year span.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7680960" y="1417320"/>
            <a:ext cx="3931920" cy="3840480"/>
          </a:xfrm>
          <a:prstGeom prst="roundRect">
            <a:avLst>
              <a:gd name="adj" fmla="val 1905"/>
            </a:avLst>
          </a:prstGeom>
          <a:solidFill>
            <a:srgbClr val="F3F5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160020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412480" y="1645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2×2 dashboard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7955280" y="2148840"/>
            <a:ext cx="3383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Top-rated movies (bar)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by activity quartile (bar)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ratings over time (line)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distribution (histogram)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7955280" y="39776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shipped as a live, filterable Streamlit app instead of a static 4-panel figure.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PREDICT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6012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 film's rating be predicted from volume alone? Not really.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3F5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57276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0.351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85800" y="2450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predicting avg rating from rating count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114800" y="14630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3F5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251960" y="157276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−0.10 to −0.001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4251960" y="2450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underperforms a plain mean-baseline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680960" y="146304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3F5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818120" y="157276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B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0.388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7818120" y="24505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(predict the mean every time) is competitive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063240"/>
            <a:ext cx="10789920" cy="2606040"/>
          </a:xfrm>
          <a:prstGeom prst="roundRect">
            <a:avLst>
              <a:gd name="adj" fmla="val 2807"/>
            </a:avLst>
          </a:prstGeom>
          <a:solidFill>
            <a:srgbClr val="F3F5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296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finding, not a failure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22960" y="3657600"/>
            <a:ext cx="10241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tried predicting a film's average rating from rating count and genre count using a Random Forest, benchmarked against a simple baseline (always predict the training mean).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model does not beat the baseline (negative R² on both versions tested). This tells us rating volume and genre count alone don't explain rating quality — word-of-mouth, cast, era, and content itself matter more than metadata we have here.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read: don't rely on a volume-based score to auto-surface "quality" films — keep using the audience-validated ranking from Slide 4 instead.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RECOMMEND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6012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co-rated-movies recommender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Self-join on userId finds movie pairs frequently rated by the same person — a lightweight "users who liked X also rated Y" signal, no ML training required.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7315200" cy="2377440"/>
        </p:xfrm>
        <a:graphic>
          <a:graphicData uri="http://schemas.openxmlformats.org/drawingml/2006/table">
            <a:tbl>
              <a:tblPr/>
              <a:tblGrid>
                <a:gridCol w="3291840"/>
                <a:gridCol w="3108960"/>
                <a:gridCol w="914400"/>
              </a:tblGrid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Movie A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Movie B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Shared raters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</a:rPr>
                        <a:t>Shawshank Redemption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</a:rPr>
                        <a:t>Forrest Gump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</a:rPr>
                        <a:t>231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</a:rPr>
                        <a:t>Pulp Fiction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</a:rPr>
                        <a:t>Forrest Gump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</a:rPr>
                        <a:t>230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</a:rPr>
                        <a:t>Pulp Fiction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</a:rPr>
                        <a:t>Shawshank Redemption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</a:rPr>
                        <a:t>222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</a:rPr>
                        <a:t>Pulp Fiction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</a:rPr>
                        <a:t>Silence of the Lambs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</a:rPr>
                        <a:t>207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</a:rPr>
                        <a:t>Forrest Gump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</a:rPr>
                        <a:t>Silence of the Lambs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</a:rPr>
                        <a:t>199</a:t>
                      </a:r>
                      <a:endParaRPr lang="en-US" sz="12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8138160" y="2148840"/>
            <a:ext cx="320040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8366760" y="2331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B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231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8366760" y="30632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raters between the top pair — a strong co-viewing signal for "more like this" placements.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8640" y="4754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in the app as a “more like this” lookup: pick a film, see its most-often co-rated titles.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23348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RECOMMENDATION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telling the business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E8B94E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34440" y="184708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the audience-validated top titles (50+ ratings, highest avg) for recommendation and promotional placement — they have both quality and proof.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971800"/>
            <a:ext cx="457200" cy="457200"/>
          </a:xfrm>
          <a:prstGeom prst="ellipse">
            <a:avLst/>
          </a:prstGeom>
          <a:solidFill>
            <a:srgbClr val="E8B94E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34440" y="289864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co-rated pairs as a low-cost “more like this” feature — no model training needed, just SQL.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E8B94E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34440" y="395020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lean on rating-volume as a quality proxy for prediction — our model shows it doesn't hold; keep the audience-validated ranking as the source of truth.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E8B94E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34440" y="500176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engagement campaigns aimed at the 75% of users outside the top activity quartile — more raters means better, more reliable recommendations platform-wide.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SHIP IT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6012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notebook to a live app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6916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B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77240" y="2057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260604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filters, live SQL marts, genre explorer, and the co-rated recommender — built and included with this deck.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33672" y="1463040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F3F5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462272" y="16916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EXPORT-READY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462272" y="2057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462272" y="260604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exported mart CSVs; build the same 2×2 dashboard with slicers for genre and date.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918704" y="1463040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F3F5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147304" y="16916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EXPORT-READY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147304" y="2057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Looker Studio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147304" y="260604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exported CSVs via Google Sheets for a shareable, browser-based dashboard.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8640" y="56235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app.py — filters for genre &amp; minimum ratings, live top-movies &amp; genre leaderboards, and a “more like this” lookup.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MovieLens Ratings Analytics</dc:title>
  <dc:subject>PptxGenJS Presentation</dc:subject>
  <dc:creator>Data Analytics Project</dc:creator>
  <cp:lastModifiedBy>Data Analytics Project</cp:lastModifiedBy>
  <cp:revision>1</cp:revision>
  <dcterms:created xsi:type="dcterms:W3CDTF">2026-07-03T11:00:03Z</dcterms:created>
  <dcterms:modified xsi:type="dcterms:W3CDTF">2026-07-03T11:00:03Z</dcterms:modified>
</cp:coreProperties>
</file>